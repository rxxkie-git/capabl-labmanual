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Urbanist"/>
      <p:regular r:id="rId17"/>
      <p:bold r:id="rId18"/>
      <p:italic r:id="rId19"/>
      <p:boldItalic r:id="rId20"/>
    </p:embeddedFont>
    <p:embeddedFont>
      <p:font typeface="Space Grotesk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boldItalic.fntdata"/><Relationship Id="rId11" Type="http://schemas.openxmlformats.org/officeDocument/2006/relationships/slide" Target="slides/slide5.xml"/><Relationship Id="rId22" Type="http://schemas.openxmlformats.org/officeDocument/2006/relationships/font" Target="fonts/SpaceGrotesk-bold.fntdata"/><Relationship Id="rId10" Type="http://schemas.openxmlformats.org/officeDocument/2006/relationships/slide" Target="slides/slide4.xml"/><Relationship Id="rId21" Type="http://schemas.openxmlformats.org/officeDocument/2006/relationships/font" Target="fonts/SpaceGrotesk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Urbanist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Urbanist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Urbanis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b935547ee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bb935547ee_2_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b935547ee_2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bb935547ee_2_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b935547ee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3bb935547ee_2_1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b935547ee_2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bb935547ee_2_1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b935547ee_2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g3bb935547ee_2_1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b935547ee_2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bb935547ee_2_1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bb935547ee_2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g3bb935547ee_2_1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bb935547ee_2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g3bb935547ee_2_1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b935547ee_2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g3bb935547ee_2_1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bb935547ee_2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g3bb935547ee_2_2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50" y="1597819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35" y="3305175"/>
            <a:ext cx="58293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15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0" y="204788"/>
            <a:ext cx="225623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0" y="1076325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764" y="-188714"/>
            <a:ext cx="3394472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254" y="1628776"/>
            <a:ext cx="4388644" cy="154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03" y="142875"/>
            <a:ext cx="4388644" cy="4514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24.png"/><Relationship Id="rId5" Type="http://schemas.openxmlformats.org/officeDocument/2006/relationships/image" Target="../media/image4.png"/><Relationship Id="rId6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10" Type="http://schemas.openxmlformats.org/officeDocument/2006/relationships/image" Target="../media/image3.png"/><Relationship Id="rId9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Relationship Id="rId7" Type="http://schemas.openxmlformats.org/officeDocument/2006/relationships/image" Target="../media/image12.png"/><Relationship Id="rId8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5" Type="http://schemas.openxmlformats.org/officeDocument/2006/relationships/image" Target="../media/image11.png"/><Relationship Id="rId6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hyperlink" Target="http://drive.google.com/file/d/1x-MC4z5krzGehNqvHE4gOLefQnvQCpDJ/view" TargetMode="External"/><Relationship Id="rId6" Type="http://schemas.openxmlformats.org/officeDocument/2006/relationships/image" Target="../media/image2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11.png"/><Relationship Id="rId6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93230" y="2857499"/>
            <a:ext cx="3217787" cy="12120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53313" y="285750"/>
            <a:ext cx="962062" cy="3571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5"/>
          <p:cNvSpPr txBox="1"/>
          <p:nvPr/>
        </p:nvSpPr>
        <p:spPr>
          <a:xfrm>
            <a:off x="428625" y="1257300"/>
            <a:ext cx="8286750" cy="259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2563EB"/>
                </a:solidFill>
                <a:latin typeface="Urbanist"/>
                <a:ea typeface="Urbanist"/>
                <a:cs typeface="Urbanist"/>
                <a:sym typeface="Urbanist"/>
              </a:rPr>
              <a:t>Aeon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221456" y="1757363"/>
            <a:ext cx="8701088" cy="709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6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Lab Manual  Assistant Agent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3078956" y="3086100"/>
            <a:ext cx="2986088" cy="865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" sz="11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Students: Likith Raj H, P. Sai Srinand Nihal, K. Datta Sai Reddy | Batch: 2027</a:t>
            </a:r>
            <a:b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" sz="11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 Duration: 2 Months | Tech: LangChain AI Agents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899" y="3032522"/>
            <a:ext cx="3964781" cy="11001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53313" y="285750"/>
            <a:ext cx="962062" cy="357188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6"/>
          <p:cNvSpPr txBox="1"/>
          <p:nvPr/>
        </p:nvSpPr>
        <p:spPr>
          <a:xfrm>
            <a:off x="457200" y="1110072"/>
            <a:ext cx="4163020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Mission Statement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6"/>
          <p:cNvSpPr txBox="1"/>
          <p:nvPr/>
        </p:nvSpPr>
        <p:spPr>
          <a:xfrm>
            <a:off x="457200" y="1326170"/>
            <a:ext cx="3964781" cy="1558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This project aims to build an AI-powered assistant that helps students and learners interactively query and understand laboratory manuals using natural language. By leveraging Retreival – Augmented Generation (RAG), the system provides accurate, context – aware answers directly from uploaded lab PDFs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43" name="Google Shape;14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0594" y="1553765"/>
            <a:ext cx="3964781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6"/>
          <p:cNvSpPr txBox="1"/>
          <p:nvPr/>
        </p:nvSpPr>
        <p:spPr>
          <a:xfrm>
            <a:off x="428625" y="3160523"/>
            <a:ext cx="3793331" cy="779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" sz="11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Example: Our agent enables students to query lab manual PDFs using natural language by combining LangChain – based RAG, FAISS vector search and a locally hosted LLM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567322" y="4221956"/>
            <a:ext cx="50006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▪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6"/>
          <p:cNvSpPr txBox="1"/>
          <p:nvPr/>
        </p:nvSpPr>
        <p:spPr>
          <a:xfrm>
            <a:off x="617328" y="4244519"/>
            <a:ext cx="3678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00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Core Focus: </a:t>
            </a:r>
            <a:r>
              <a:rPr i="1" lang="en" sz="1100">
                <a:solidFill>
                  <a:srgbClr val="538CD5"/>
                </a:solidFill>
                <a:latin typeface="Urbanist"/>
                <a:ea typeface="Urbanist"/>
                <a:cs typeface="Urbanist"/>
                <a:sym typeface="Urbanist"/>
              </a:rPr>
              <a:t>Education Industry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64748B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567322" y="4436269"/>
            <a:ext cx="50006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▪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6"/>
          <p:cNvSpPr txBox="1"/>
          <p:nvPr/>
        </p:nvSpPr>
        <p:spPr>
          <a:xfrm>
            <a:off x="600075" y="428625"/>
            <a:ext cx="8521065" cy="392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OVERVIEW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6"/>
          <p:cNvSpPr/>
          <p:nvPr/>
        </p:nvSpPr>
        <p:spPr>
          <a:xfrm>
            <a:off x="428625" y="428625"/>
            <a:ext cx="57150" cy="39290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6"/>
          <p:cNvSpPr txBox="1"/>
          <p:nvPr/>
        </p:nvSpPr>
        <p:spPr>
          <a:xfrm>
            <a:off x="1409097" y="4257675"/>
            <a:ext cx="2033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51" name="Google Shape;151;p26"/>
          <p:cNvSpPr txBox="1"/>
          <p:nvPr/>
        </p:nvSpPr>
        <p:spPr>
          <a:xfrm>
            <a:off x="617328" y="4422231"/>
            <a:ext cx="3450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Main LangChain Module: </a:t>
            </a:r>
            <a:r>
              <a:rPr b="0" i="1" lang="en" sz="1100" u="none" cap="none" strike="noStrike">
                <a:solidFill>
                  <a:srgbClr val="538CD5"/>
                </a:solidFill>
                <a:latin typeface="Urbanist"/>
                <a:ea typeface="Urbanist"/>
                <a:cs typeface="Urbanist"/>
                <a:sym typeface="Urbanist"/>
              </a:rPr>
              <a:t>RetrievalQA (RAG Pipeline)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3564731"/>
            <a:ext cx="3714750" cy="11001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7"/>
          <p:cNvSpPr txBox="1"/>
          <p:nvPr/>
        </p:nvSpPr>
        <p:spPr>
          <a:xfrm>
            <a:off x="428625" y="2096691"/>
            <a:ext cx="3900488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Identifying the Friction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7"/>
          <p:cNvSpPr txBox="1"/>
          <p:nvPr/>
        </p:nvSpPr>
        <p:spPr>
          <a:xfrm>
            <a:off x="428625" y="2475309"/>
            <a:ext cx="3714750" cy="779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Students struggle to quickly find relevant information in lengthy lab manuals. Manual searching or keyword - scripts are slow and fail to understand context or intent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1" name="Google Shape;161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8625" y="996553"/>
            <a:ext cx="962062" cy="35718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7"/>
          <p:cNvSpPr txBox="1"/>
          <p:nvPr/>
        </p:nvSpPr>
        <p:spPr>
          <a:xfrm>
            <a:off x="554355" y="3725270"/>
            <a:ext cx="3543300" cy="779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" sz="11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Lab manual PDFs are time-consuming to navigate, and basic search tools cannot answer contextual or follow-up questions, creating the need for an AI-based solution.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7"/>
          <p:cNvSpPr txBox="1"/>
          <p:nvPr/>
        </p:nvSpPr>
        <p:spPr>
          <a:xfrm>
            <a:off x="428625" y="1496615"/>
            <a:ext cx="3900488" cy="392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CHALLENGE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2046684"/>
            <a:ext cx="1964531" cy="1728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36031" y="2046684"/>
            <a:ext cx="1964531" cy="1728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3438" y="2046684"/>
            <a:ext cx="1964531" cy="1728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50844" y="2046684"/>
            <a:ext cx="1964531" cy="1728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53313" y="285750"/>
            <a:ext cx="962062" cy="357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2938" y="2260997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8"/>
          <p:cNvSpPr txBox="1"/>
          <p:nvPr/>
        </p:nvSpPr>
        <p:spPr>
          <a:xfrm>
            <a:off x="642938" y="2489597"/>
            <a:ext cx="1612701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Framework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6" name="Google Shape;176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50344" y="226099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8"/>
          <p:cNvSpPr txBox="1"/>
          <p:nvPr/>
        </p:nvSpPr>
        <p:spPr>
          <a:xfrm>
            <a:off x="2750344" y="2489597"/>
            <a:ext cx="1612701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LLM Engine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8" name="Google Shape;178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57750" y="2260997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8"/>
          <p:cNvSpPr txBox="1"/>
          <p:nvPr/>
        </p:nvSpPr>
        <p:spPr>
          <a:xfrm>
            <a:off x="4857750" y="2489597"/>
            <a:ext cx="1612701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Vector DB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0" name="Google Shape;180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65156" y="2260997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8"/>
          <p:cNvSpPr txBox="1"/>
          <p:nvPr/>
        </p:nvSpPr>
        <p:spPr>
          <a:xfrm>
            <a:off x="6965156" y="2489597"/>
            <a:ext cx="1612701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Hosting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8"/>
          <p:cNvSpPr txBox="1"/>
          <p:nvPr/>
        </p:nvSpPr>
        <p:spPr>
          <a:xfrm>
            <a:off x="600075" y="428625"/>
            <a:ext cx="8521065" cy="392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TECHNOLOGY STACK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8"/>
          <p:cNvSpPr/>
          <p:nvPr/>
        </p:nvSpPr>
        <p:spPr>
          <a:xfrm>
            <a:off x="428625" y="428625"/>
            <a:ext cx="57150" cy="39290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8"/>
          <p:cNvSpPr txBox="1"/>
          <p:nvPr/>
        </p:nvSpPr>
        <p:spPr>
          <a:xfrm>
            <a:off x="485775" y="2853687"/>
            <a:ext cx="1793889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400" u="none" cap="none" strike="noStrike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RAG Framework: LangChain</a:t>
            </a:r>
            <a:endParaRPr b="0" i="1" sz="1400" u="none" cap="none" strike="noStrike">
              <a:solidFill>
                <a:srgbClr val="538C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8"/>
          <p:cNvSpPr txBox="1"/>
          <p:nvPr/>
        </p:nvSpPr>
        <p:spPr>
          <a:xfrm>
            <a:off x="2621352" y="2846024"/>
            <a:ext cx="1793889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400" u="none" cap="none" strike="noStrike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LLM: Ollama (phi3:mini)</a:t>
            </a:r>
            <a:endParaRPr sz="1100"/>
          </a:p>
        </p:txBody>
      </p:sp>
      <p:sp>
        <p:nvSpPr>
          <p:cNvPr id="186" name="Google Shape;186;p28"/>
          <p:cNvSpPr txBox="1"/>
          <p:nvPr/>
        </p:nvSpPr>
        <p:spPr>
          <a:xfrm>
            <a:off x="4728758" y="2864867"/>
            <a:ext cx="1793889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400" u="none" cap="none" strike="noStrike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Vector DB: FAISS(Facebook AI Similarity Search)</a:t>
            </a:r>
            <a:endParaRPr sz="1100"/>
          </a:p>
        </p:txBody>
      </p:sp>
      <p:sp>
        <p:nvSpPr>
          <p:cNvPr id="187" name="Google Shape;187;p28"/>
          <p:cNvSpPr txBox="1"/>
          <p:nvPr/>
        </p:nvSpPr>
        <p:spPr>
          <a:xfrm>
            <a:off x="6836164" y="2853687"/>
            <a:ext cx="1793889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400" u="none" cap="none" strike="noStrike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Hosting / Frontend: Streamlit</a:t>
            </a:r>
            <a:endParaRPr b="0" i="1" sz="1400" u="none" cap="none" strike="noStrike">
              <a:solidFill>
                <a:srgbClr val="538C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8" name="Google Shape;188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7200" y="2801260"/>
            <a:ext cx="1793889" cy="5896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621352" y="2793598"/>
            <a:ext cx="1793889" cy="58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28758" y="2813507"/>
            <a:ext cx="1793889" cy="7561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827968" y="2793598"/>
            <a:ext cx="1793889" cy="58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53313" y="285750"/>
            <a:ext cx="962062" cy="357188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9"/>
          <p:cNvSpPr txBox="1"/>
          <p:nvPr/>
        </p:nvSpPr>
        <p:spPr>
          <a:xfrm>
            <a:off x="600075" y="428625"/>
            <a:ext cx="8520975" cy="415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TIMELINE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9"/>
          <p:cNvSpPr/>
          <p:nvPr/>
        </p:nvSpPr>
        <p:spPr>
          <a:xfrm>
            <a:off x="428625" y="428625"/>
            <a:ext cx="57150" cy="3928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29"/>
          <p:cNvPicPr preferRelativeResize="0"/>
          <p:nvPr/>
        </p:nvPicPr>
        <p:blipFill rotWithShape="1">
          <a:blip r:embed="rId5">
            <a:alphaModFix/>
          </a:blip>
          <a:srcRect b="1385" l="0" r="2075" t="0"/>
          <a:stretch/>
        </p:blipFill>
        <p:spPr>
          <a:xfrm>
            <a:off x="-10286" y="1475117"/>
            <a:ext cx="9164570" cy="117843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9"/>
          <p:cNvSpPr txBox="1"/>
          <p:nvPr/>
        </p:nvSpPr>
        <p:spPr>
          <a:xfrm>
            <a:off x="266880" y="3067526"/>
            <a:ext cx="844849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The project begins with requirement analysis and system design in early October. Backend and frontend development are carried out in parallel from mid-October to early November to optimize time. This is followed by integration and testing, and the project concludes with deployment as the final milestone.</a:t>
            </a:r>
            <a:endParaRPr b="0" i="0" sz="1100" u="none" cap="none" strike="noStrike">
              <a:solidFill>
                <a:srgbClr val="64748B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402" y="785813"/>
            <a:ext cx="6659593" cy="30196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1724" y="3761775"/>
            <a:ext cx="4381900" cy="117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53313" y="285750"/>
            <a:ext cx="962062" cy="357188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0"/>
          <p:cNvSpPr txBox="1"/>
          <p:nvPr/>
        </p:nvSpPr>
        <p:spPr>
          <a:xfrm>
            <a:off x="5671802" y="2524430"/>
            <a:ext cx="4163020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Technical Workflow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0"/>
          <p:cNvSpPr txBox="1"/>
          <p:nvPr/>
        </p:nvSpPr>
        <p:spPr>
          <a:xfrm>
            <a:off x="5671802" y="2696487"/>
            <a:ext cx="3822000" cy="20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sng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Step 1:</a:t>
            </a:r>
            <a:r>
              <a:rPr b="1" i="0" lang="en" sz="11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 Input Processing 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PDF + User query.</a:t>
            </a:r>
            <a:endParaRPr b="1" i="0" sz="1100" u="sng" cap="none" strike="noStrike">
              <a:solidFill>
                <a:srgbClr val="64748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sng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Step 2:</a:t>
            </a:r>
            <a:r>
              <a:rPr b="1" i="0" lang="en" sz="11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 Retrieval/ Tool Logic  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FAISS semantic search.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sng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Step 3: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Context evaluation by LLM.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sng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Step 4: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Grounded answer generation.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0"/>
          <p:cNvSpPr txBox="1"/>
          <p:nvPr/>
        </p:nvSpPr>
        <p:spPr>
          <a:xfrm>
            <a:off x="924712" y="3805426"/>
            <a:ext cx="3598831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The agent follows a retrieval-augmented reasoning loop where each query triggers semantic retrieval from the vector database before generating a grounded response using a local LLM.</a:t>
            </a:r>
            <a:endParaRPr b="0" i="0" sz="1100" u="none" cap="none" strike="noStrike"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2" name="Google Shape;212;p30"/>
          <p:cNvSpPr txBox="1"/>
          <p:nvPr/>
        </p:nvSpPr>
        <p:spPr>
          <a:xfrm>
            <a:off x="600075" y="428625"/>
            <a:ext cx="8521065" cy="392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ARCHITECTURE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0"/>
          <p:cNvSpPr/>
          <p:nvPr/>
        </p:nvSpPr>
        <p:spPr>
          <a:xfrm>
            <a:off x="428625" y="428625"/>
            <a:ext cx="57150" cy="39290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1477" y="2272228"/>
            <a:ext cx="4006748" cy="19429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53313" y="285750"/>
            <a:ext cx="962062" cy="357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18046" y="1739503"/>
            <a:ext cx="1785937" cy="1785937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1"/>
          <p:cNvSpPr txBox="1"/>
          <p:nvPr/>
        </p:nvSpPr>
        <p:spPr>
          <a:xfrm>
            <a:off x="329505" y="3554015"/>
            <a:ext cx="4163020" cy="528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Unique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1"/>
          <p:cNvSpPr txBox="1"/>
          <p:nvPr/>
        </p:nvSpPr>
        <p:spPr>
          <a:xfrm>
            <a:off x="4750594" y="2010965"/>
            <a:ext cx="4163020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What makes your project stand out?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1"/>
          <p:cNvSpPr txBox="1"/>
          <p:nvPr/>
        </p:nvSpPr>
        <p:spPr>
          <a:xfrm>
            <a:off x="4750594" y="2336129"/>
            <a:ext cx="3507581" cy="206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-209550" lvl="0" marL="215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1" lang="en" sz="11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Context-aware question answering directly from lab manual pdfs</a:t>
            </a:r>
            <a:endParaRPr sz="1100"/>
          </a:p>
          <a:p>
            <a:pPr indent="-209550" lvl="0" marL="215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1" lang="en" sz="11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Local LLM execution using Ollama for privacy and low latency</a:t>
            </a:r>
            <a:endParaRPr sz="1100"/>
          </a:p>
          <a:p>
            <a:pPr indent="-209550" lvl="0" marL="215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1" lang="en" sz="11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AI-powered lab manual Q&amp;A using RAG</a:t>
            </a:r>
            <a:endParaRPr sz="1100"/>
          </a:p>
          <a:p>
            <a:pPr indent="-209550" lvl="0" marL="215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1" lang="en" sz="11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Accurate answers grounded in PDF content</a:t>
            </a:r>
            <a:endParaRPr sz="1100"/>
          </a:p>
          <a:p>
            <a:pPr indent="-209550" lvl="0" marL="215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1" lang="en" sz="11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Simple, student-friendly Streamlit interface</a:t>
            </a:r>
            <a:endParaRPr sz="1100"/>
          </a:p>
          <a:p>
            <a:pPr indent="-152400" lvl="0" marL="215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1"/>
          <p:cNvSpPr txBox="1"/>
          <p:nvPr/>
        </p:nvSpPr>
        <p:spPr>
          <a:xfrm>
            <a:off x="600075" y="428625"/>
            <a:ext cx="8521065" cy="392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NOVEL APPROACH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1"/>
          <p:cNvSpPr/>
          <p:nvPr/>
        </p:nvSpPr>
        <p:spPr>
          <a:xfrm>
            <a:off x="428625" y="428625"/>
            <a:ext cx="57150" cy="39290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53313" y="285750"/>
            <a:ext cx="962062" cy="357188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2"/>
          <p:cNvSpPr txBox="1"/>
          <p:nvPr/>
        </p:nvSpPr>
        <p:spPr>
          <a:xfrm>
            <a:off x="600075" y="428625"/>
            <a:ext cx="8520975" cy="415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DEMO VIDEO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2"/>
          <p:cNvSpPr/>
          <p:nvPr/>
        </p:nvSpPr>
        <p:spPr>
          <a:xfrm>
            <a:off x="428625" y="428625"/>
            <a:ext cx="57150" cy="3928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32" title="capablvideo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32475" y="1397700"/>
            <a:ext cx="5225150" cy="29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53313" y="285750"/>
            <a:ext cx="962062" cy="357188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3"/>
          <p:cNvSpPr/>
          <p:nvPr/>
        </p:nvSpPr>
        <p:spPr>
          <a:xfrm>
            <a:off x="428625" y="1953815"/>
            <a:ext cx="828675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2" name="Google Shape;242;p3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descr="image.png" id="243" name="Google Shape;243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33"/>
            <p:cNvSpPr/>
            <p:nvPr/>
          </p:nvSpPr>
          <p:spPr>
            <a:xfrm>
              <a:off x="1738275" y="1555439"/>
              <a:ext cx="142875" cy="142875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33"/>
            <p:cNvSpPr txBox="1"/>
            <p:nvPr/>
          </p:nvSpPr>
          <p:spPr>
            <a:xfrm>
              <a:off x="359567" y="1850231"/>
              <a:ext cx="29004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1E293B"/>
                  </a:solidFill>
                  <a:latin typeface="Urbanist"/>
                  <a:ea typeface="Urbanist"/>
                  <a:cs typeface="Urbanist"/>
                  <a:sym typeface="Urbanist"/>
                </a:rPr>
                <a:t>Phase 1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33"/>
            <p:cNvSpPr/>
            <p:nvPr/>
          </p:nvSpPr>
          <p:spPr>
            <a:xfrm>
              <a:off x="4500563" y="1555439"/>
              <a:ext cx="142875" cy="142875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33"/>
            <p:cNvSpPr txBox="1"/>
            <p:nvPr/>
          </p:nvSpPr>
          <p:spPr>
            <a:xfrm>
              <a:off x="3121855" y="1850231"/>
              <a:ext cx="29004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1E293B"/>
                  </a:solidFill>
                  <a:latin typeface="Urbanist"/>
                  <a:ea typeface="Urbanist"/>
                  <a:cs typeface="Urbanist"/>
                  <a:sym typeface="Urbanist"/>
                </a:rPr>
                <a:t>Phase 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33"/>
            <p:cNvSpPr/>
            <p:nvPr/>
          </p:nvSpPr>
          <p:spPr>
            <a:xfrm>
              <a:off x="7262849" y="1555439"/>
              <a:ext cx="142875" cy="142875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33"/>
            <p:cNvSpPr txBox="1"/>
            <p:nvPr/>
          </p:nvSpPr>
          <p:spPr>
            <a:xfrm>
              <a:off x="5884142" y="1850231"/>
              <a:ext cx="29004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1E293B"/>
                  </a:solidFill>
                  <a:latin typeface="Urbanist"/>
                  <a:ea typeface="Urbanist"/>
                  <a:cs typeface="Urbanist"/>
                  <a:sym typeface="Urbanist"/>
                </a:rPr>
                <a:t>Phase 3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0" name="Google Shape;250;p33"/>
          <p:cNvSpPr txBox="1"/>
          <p:nvPr/>
        </p:nvSpPr>
        <p:spPr>
          <a:xfrm>
            <a:off x="600075" y="428625"/>
            <a:ext cx="8521065" cy="392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ROADMAP &amp; FUTURE SCOPE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3"/>
          <p:cNvSpPr/>
          <p:nvPr/>
        </p:nvSpPr>
        <p:spPr>
          <a:xfrm>
            <a:off x="428625" y="428625"/>
            <a:ext cx="57150" cy="39290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2" name="Google Shape;252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2134307"/>
            <a:ext cx="2762287" cy="38576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3"/>
          <p:cNvSpPr txBox="1"/>
          <p:nvPr/>
        </p:nvSpPr>
        <p:spPr>
          <a:xfrm>
            <a:off x="671513" y="2211771"/>
            <a:ext cx="2420374" cy="24237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00" u="none" cap="none" strike="noStrike">
                <a:solidFill>
                  <a:srgbClr val="538CD5"/>
                </a:solidFill>
                <a:latin typeface="Urbanist"/>
                <a:ea typeface="Urbanist"/>
                <a:cs typeface="Urbanist"/>
                <a:sym typeface="Urbanist"/>
              </a:rPr>
              <a:t>Multi-PDF support, better grounding</a:t>
            </a:r>
            <a:endParaRPr sz="1100"/>
          </a:p>
        </p:txBody>
      </p:sp>
      <p:pic>
        <p:nvPicPr>
          <p:cNvPr descr="image.png" id="254" name="Google Shape;254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19487" y="2134307"/>
            <a:ext cx="2762287" cy="385763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3"/>
          <p:cNvSpPr txBox="1"/>
          <p:nvPr/>
        </p:nvSpPr>
        <p:spPr>
          <a:xfrm>
            <a:off x="3433799" y="2211771"/>
            <a:ext cx="2475678" cy="24237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00" u="none" cap="none" strike="noStrike">
                <a:solidFill>
                  <a:srgbClr val="538CD5"/>
                </a:solidFill>
                <a:latin typeface="Urbanist"/>
                <a:ea typeface="Urbanist"/>
                <a:cs typeface="Urbanist"/>
                <a:sym typeface="Urbanist"/>
              </a:rPr>
              <a:t>Scalable Storage, multi-user support</a:t>
            </a:r>
            <a:endParaRPr sz="1100"/>
          </a:p>
        </p:txBody>
      </p:sp>
      <p:pic>
        <p:nvPicPr>
          <p:cNvPr descr="image.png" id="256" name="Google Shape;256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81773" y="2137880"/>
            <a:ext cx="2762287" cy="385763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3"/>
          <p:cNvSpPr txBox="1"/>
          <p:nvPr/>
        </p:nvSpPr>
        <p:spPr>
          <a:xfrm>
            <a:off x="6497878" y="2211770"/>
            <a:ext cx="1897395" cy="24237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00" u="none" cap="none" strike="noStrike">
                <a:solidFill>
                  <a:srgbClr val="538CD5"/>
                </a:solidFill>
                <a:latin typeface="Urbanist"/>
                <a:ea typeface="Urbanist"/>
                <a:cs typeface="Urbanist"/>
                <a:sym typeface="Urbanist"/>
              </a:rPr>
              <a:t>Chat UI, Source Highlighting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2" name="Google Shape;26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4500" y="1953815"/>
            <a:ext cx="5819775" cy="11001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53313" y="285750"/>
            <a:ext cx="962062" cy="357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8625" y="489347"/>
            <a:ext cx="82867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4"/>
          <p:cNvSpPr txBox="1"/>
          <p:nvPr/>
        </p:nvSpPr>
        <p:spPr>
          <a:xfrm>
            <a:off x="221456" y="1275159"/>
            <a:ext cx="8701088" cy="464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" sz="3200" u="none" cap="none" strike="noStrik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4"/>
          <p:cNvSpPr/>
          <p:nvPr/>
        </p:nvSpPr>
        <p:spPr>
          <a:xfrm>
            <a:off x="3857625" y="3339703"/>
            <a:ext cx="142875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4"/>
          <p:cNvSpPr txBox="1"/>
          <p:nvPr/>
        </p:nvSpPr>
        <p:spPr>
          <a:xfrm>
            <a:off x="428625" y="3796903"/>
            <a:ext cx="828675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THANK YOU FOR YOUR ATTENTION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4"/>
          <p:cNvSpPr txBox="1"/>
          <p:nvPr/>
        </p:nvSpPr>
        <p:spPr>
          <a:xfrm>
            <a:off x="428625" y="4296965"/>
            <a:ext cx="828675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Questions &amp; Feedback are welcome.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4"/>
          <p:cNvSpPr txBox="1"/>
          <p:nvPr/>
        </p:nvSpPr>
        <p:spPr>
          <a:xfrm>
            <a:off x="1800225" y="2092923"/>
            <a:ext cx="5543550" cy="779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" sz="11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Ultimately, this project demonstrates how RAG-based AI agent can transform lab manual usage by providing instant, accurate, and context-aware answers in a privacy-first, local setup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